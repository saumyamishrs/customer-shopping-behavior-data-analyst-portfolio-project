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631" y="3814286"/>
            <a:ext cx="814049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ANALYTICS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55631" y="4130973"/>
            <a:ext cx="7530912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750" spc="-57" kern="1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shopping behavior,</a:t>
            </a:r>
            <a:endParaRPr lang="en-US" sz="575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750" spc="-57" kern="1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from raw data to action</a:t>
            </a:r>
            <a:endParaRPr lang="en-US" sz="5750" dirty="0"/>
          </a:p>
        </p:txBody>
      </p:sp>
      <p:sp>
        <p:nvSpPr>
          <p:cNvPr id="4" name="Text 2"/>
          <p:cNvSpPr/>
          <p:nvPr/>
        </p:nvSpPr>
        <p:spPr>
          <a:xfrm>
            <a:off x="755631" y="7141190"/>
            <a:ext cx="7530912" cy="759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1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Transactions → preparation → analysis → recommendations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86"/>
            <a:ext cx="42670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5993"/>
            <a:ext cx="3657509" cy="243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3,900 purchases reveal a retention opportunity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4837840"/>
            <a:ext cx="3657509" cy="11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500" spc="-85" kern="100" dirty="0">
                <a:solidFill>
                  <a:srgbClr val="FFFFF5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27%</a:t>
            </a:r>
            <a:endParaRPr lang="en-US" sz="8500" dirty="0"/>
          </a:p>
        </p:txBody>
      </p:sp>
      <p:sp>
        <p:nvSpPr>
          <p:cNvPr id="5" name="Text 3"/>
          <p:cNvSpPr/>
          <p:nvPr/>
        </p:nvSpPr>
        <p:spPr>
          <a:xfrm>
            <a:off x="609585" y="6021447"/>
            <a:ext cx="426709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customers have subscriptions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2F2E7"/>
          </a:solidFill>
          <a:ln/>
        </p:spPr>
      </p:sp>
      <p:sp>
        <p:nvSpPr>
          <p:cNvPr id="7" name="Text 5"/>
          <p:cNvSpPr/>
          <p:nvPr/>
        </p:nvSpPr>
        <p:spPr>
          <a:xfrm>
            <a:off x="5308467" y="386080"/>
            <a:ext cx="6451439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the dataset can answer</a:t>
            </a:r>
            <a:endParaRPr lang="en-US" sz="2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8467" y="900454"/>
            <a:ext cx="330192" cy="330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5656" y="892742"/>
            <a:ext cx="599425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765656" y="1339592"/>
            <a:ext cx="59942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transactions across 4 product categories and 25 items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467" y="1836483"/>
            <a:ext cx="330192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5656" y="1828772"/>
            <a:ext cx="599425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Headline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765656" y="2275622"/>
            <a:ext cx="59942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customers dominate the base, while subscriptions reach only 27% of customers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467" y="2772513"/>
            <a:ext cx="330192" cy="33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65656" y="2764802"/>
            <a:ext cx="599425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question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5765656" y="3211651"/>
            <a:ext cx="59942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should marketing, merchandising, and loyalty efforts focus?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86"/>
            <a:ext cx="711182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ANALYTICS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5993"/>
            <a:ext cx="6502237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project connects three layers of analysis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2299593"/>
            <a:ext cx="7968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548533"/>
            <a:ext cx="196418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679275"/>
            <a:ext cx="196418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Python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09585" y="3126125"/>
            <a:ext cx="196418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standardize, and engineer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78562" y="2299593"/>
            <a:ext cx="8326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78562" y="2548533"/>
            <a:ext cx="196418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2878562" y="2679275"/>
            <a:ext cx="196418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PostgreSQL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878562" y="3126125"/>
            <a:ext cx="196418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 business questions with transaction-level 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47538" y="2299593"/>
            <a:ext cx="83103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47538" y="2548533"/>
            <a:ext cx="196418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5147538" y="2679275"/>
            <a:ext cx="196428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147538" y="3126125"/>
            <a:ext cx="196428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findings into an interactive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FAF1D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86305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438412"/>
            <a:ext cx="10972526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 made the analysis reliable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3306961"/>
            <a:ext cx="7968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555901"/>
            <a:ext cx="345431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686643"/>
            <a:ext cx="345431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Quality check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09585" y="4133493"/>
            <a:ext cx="345431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review ratings were missing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68691" y="3306961"/>
            <a:ext cx="8326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3555901"/>
            <a:ext cx="345431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4368691" y="3686643"/>
            <a:ext cx="345431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Imputation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368691" y="4133493"/>
            <a:ext cx="345431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ratings were filled with the median for each product category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7797" y="3306961"/>
            <a:ext cx="83103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3555901"/>
            <a:ext cx="345431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8127797" y="3686643"/>
            <a:ext cx="3454314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 engineering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127797" y="4133493"/>
            <a:ext cx="3454314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groups and purchase-frequency days were created; redundant promo-code data was removed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86"/>
            <a:ext cx="414525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5993"/>
            <a:ext cx="3535671" cy="243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customer base is broad, but spending is concentrated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3961130"/>
            <a:ext cx="1539241" cy="148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750" spc="-5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$59.76</a:t>
            </a:r>
            <a:endParaRPr lang="en-US" sz="5750" dirty="0"/>
          </a:p>
        </p:txBody>
      </p:sp>
      <p:sp>
        <p:nvSpPr>
          <p:cNvPr id="5" name="Text 3"/>
          <p:cNvSpPr/>
          <p:nvPr/>
        </p:nvSpPr>
        <p:spPr>
          <a:xfrm>
            <a:off x="609585" y="5561766"/>
            <a:ext cx="153924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purchase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14" y="3961130"/>
            <a:ext cx="1310647" cy="74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750" spc="-5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3.75</a:t>
            </a:r>
            <a:endParaRPr lang="en-US" sz="5750" dirty="0"/>
          </a:p>
        </p:txBody>
      </p:sp>
      <p:sp>
        <p:nvSpPr>
          <p:cNvPr id="7" name="Text 5"/>
          <p:cNvSpPr/>
          <p:nvPr/>
        </p:nvSpPr>
        <p:spPr>
          <a:xfrm>
            <a:off x="2606014" y="4816931"/>
            <a:ext cx="1310647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rating out of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118" y="614680"/>
            <a:ext cx="59129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gender</a:t>
            </a:r>
            <a:endParaRPr lang="en-US" sz="2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118" y="1148060"/>
            <a:ext cx="5912992" cy="4274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118" y="5500310"/>
            <a:ext cx="652257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customers generated $157,890 versus $75,191 from female customers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71070" y="3661569"/>
            <a:ext cx="12700" cy="2586831"/>
          </a:xfrm>
          <a:prstGeom prst="rect">
            <a:avLst/>
          </a:prstGeom>
          <a:solidFill>
            <a:srgbClr val="FFFFF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86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MERCHANDISING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5993"/>
            <a:ext cx="10972526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Clothing is the commercial center of gravity</a:t>
            </a:r>
            <a:endParaRPr lang="en-US" sz="3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41277"/>
            <a:ext cx="10769331" cy="31758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894481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Clothing leads both revenue and sales volume. Top products: jewelry, sunglasses, belts, blouses, pants, and shirts.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241512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85286"/>
            <a:ext cx="411469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SIGNAL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55591" y="637393"/>
            <a:ext cx="3759106" cy="303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Discounts attract high-value purchases, but may pressure margin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55591" y="4835360"/>
            <a:ext cx="3759106" cy="11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500" spc="-85" kern="100" dirty="0">
                <a:solidFill>
                  <a:srgbClr val="D17861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839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355591" y="6018966"/>
            <a:ext cx="375910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spent above the average purchase amount while using discounts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873" y="614680"/>
            <a:ext cx="6502237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Most discount-dependent products</a:t>
            </a:r>
            <a:endParaRPr lang="en-US" sz="2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1148060"/>
            <a:ext cx="6502237" cy="26115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9873" y="3836908"/>
            <a:ext cx="711182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discount depth and targeting rather than treating every product the same.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86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SEGMENTS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5993"/>
            <a:ext cx="10972526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 customers are the largest segment to develop</a:t>
            </a:r>
            <a:endParaRPr lang="en-US" sz="3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22227"/>
            <a:ext cx="10769331" cy="31123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811931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 returning customers into loyal advocates while protecting the new-customer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768"/>
            <a:ext cx="11582110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spc="56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SIGNAL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26523"/>
            <a:ext cx="10972526" cy="1086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Subscriptions are underpenetrated and not yet driving higher spend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585" y="2027734"/>
            <a:ext cx="5333867" cy="2264569"/>
          </a:xfrm>
          <a:prstGeom prst="rect">
            <a:avLst/>
          </a:prstGeom>
          <a:solidFill>
            <a:srgbClr val="FAF1DC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424271"/>
            <a:ext cx="4724282" cy="985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600" spc="-76" kern="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27%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914377" y="3405870"/>
            <a:ext cx="472428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17" kern="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14377" y="3800067"/>
            <a:ext cx="5029074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73% are non-subscribers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8244" y="2027734"/>
            <a:ext cx="5333867" cy="2264569"/>
          </a:xfrm>
          <a:prstGeom prst="rect">
            <a:avLst/>
          </a:prstGeom>
          <a:solidFill>
            <a:srgbClr val="F2F2E7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2336590"/>
            <a:ext cx="472428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17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Average spend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553036" y="2730786"/>
            <a:ext cx="4724282" cy="391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$59.49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subscribers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$59.87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non-subscribers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585" y="4597102"/>
            <a:ext cx="10972526" cy="2264569"/>
          </a:xfrm>
          <a:prstGeom prst="rect">
            <a:avLst/>
          </a:prstGeom>
          <a:solidFill>
            <a:srgbClr val="24151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377" y="4905959"/>
            <a:ext cx="10362941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17" kern="1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14377" y="5300155"/>
            <a:ext cx="10362941" cy="391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$62,645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subscribers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$170,436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non-subscribers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886"/>
            <a:ext cx="629904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5993"/>
            <a:ext cx="5689458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ratings point to merchandising wins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09585" y="2279273"/>
            <a:ext cx="5689458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Top-rated products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09585" y="2780903"/>
            <a:ext cx="5689458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 3.86, sandals 3.84, boots 3.82, hats 3.80, and skirts 3.78</a:t>
            </a:r>
            <a:endParaRPr lang="en-US" sz="1400" dirty="0"/>
          </a:p>
          <a:p>
            <a:pPr algn="l"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Shipping:</a:t>
            </a:r>
            <a:pPr algn="l"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average purchase value is $60.48 for express versus $58.46 for standard shipping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Implication: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feature trusted products and test premium fulfillment messaging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420" y="0"/>
            <a:ext cx="49782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2026-10-12T16:18:51Z</dcterms:created>
  <dcterms:modified xsi:type="dcterms:W3CDTF">2026-10-12T16:18:51Z</dcterms:modified>
</cp:coreProperties>
</file>